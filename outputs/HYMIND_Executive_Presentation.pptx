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725119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80" y="182880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80" y="1444751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80" y="2706624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3968496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0" y="5230368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7648" y="182880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7648" y="1444751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2706624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3968496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27648" y="5230368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43216" y="182880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43216" y="1444751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43216" y="2706624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43216" y="3968496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43216" y="5230368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58784" y="182880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58784" y="1444751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58784" y="2706624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58784" y="3968496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58784" y="5230368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74352" y="182880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74352" y="1444751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74352" y="2706624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74352" y="3968496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74352" y="5230368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789920" y="182880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89920" y="1444751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789920" y="2706624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89920" y="3968496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789920" y="5230368"/>
            <a:ext cx="1005840" cy="111556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20040" y="4407408"/>
            <a:ext cx="42976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20040" y="14630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D4FF"/>
                </a:solidFill>
                <a:latin typeface="Calibri"/>
              </a:rPr>
              <a:t>HYDROGEN MARKET INTELLIGENCE &amp;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1874519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HYMIND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20040" y="3218688"/>
            <a:ext cx="2011680" cy="0"/>
          </a:xfrm>
          <a:prstGeom prst="line">
            <a:avLst/>
          </a:prstGeom>
          <a:ln w="9525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20040" y="3364992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CD4E0"/>
                </a:solidFill>
                <a:latin typeface="Calibri"/>
              </a:rPr>
              <a:t>Autonomous Hydrogen Market
Intelligence &amp; Data Platform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468172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896AA"/>
                </a:solidFill>
                <a:latin typeface="Calibri"/>
              </a:rPr>
              <a:t>— Research Automation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49560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896AA"/>
                </a:solidFill>
                <a:latin typeface="Calibri"/>
              </a:rPr>
              <a:t>— LangGraph Orchestration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52303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896AA"/>
                </a:solidFill>
                <a:latin typeface="Calibri"/>
              </a:rPr>
              <a:t>— RAG Intelligence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55046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896AA"/>
                </a:solidFill>
                <a:latin typeface="Calibri"/>
              </a:rPr>
              <a:t>— Executive 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146304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00" b="1" i="0">
                <a:solidFill>
                  <a:srgbClr val="0A1836"/>
                </a:solidFill>
                <a:latin typeface="Calibri"/>
              </a:rPr>
              <a:t>HYMIND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5720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896AA"/>
                </a:solidFill>
                <a:latin typeface="Calibri"/>
              </a:rPr>
              <a:t>Hydrogen Intelligence. Automated. Executive-Ready.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CONFIDENTIAL — HYMIND Executive Presentation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01  PROBLEM STATEMENT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CD4E0"/>
                </a:solidFill>
                <a:latin typeface="Calibri"/>
              </a:rPr>
              <a:t>Hydrogen industry stakeholders face fragmented, high-volume intelligence needs
that are impossible to address manually at executive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19072"/>
            <a:ext cx="2176272" cy="4315968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19072"/>
            <a:ext cx="21762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67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Fragmented
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71216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Market signals scattered across news, feeds,
websites, policy documents, and databases.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719072"/>
            <a:ext cx="2176272" cy="4315968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1719072"/>
            <a:ext cx="21762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828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D4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2267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Competitor
Blind Spots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2871216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No systematic way to track competitor
announcements, investments, or strategies.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1719072"/>
            <a:ext cx="2176272" cy="4315968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1719072"/>
            <a:ext cx="21762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1828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D4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267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Policy &amp;
Funding Complexity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871216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Hydrogen regulation and government funding
change rapidly across multiple jurisdictions.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1719072"/>
            <a:ext cx="2176272" cy="4315968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20" y="1719072"/>
            <a:ext cx="21762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0" y="1828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D4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267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Manual
Research 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871216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Analyst time consumed by low-value data
collection rather than strategic interpretation.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1719072"/>
            <a:ext cx="2176272" cy="4315968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46920" y="1719072"/>
            <a:ext cx="21762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828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D4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26771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Delayed
Executive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871216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Decision-makers receive weekly briefs days
after market-moving events have occurred.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02  SOLUTION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HYMIND — 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CD4E0"/>
                </a:solidFill>
                <a:latin typeface="Calibri"/>
              </a:rPr>
              <a:t>An autonomous multi-source intelligence platform that collects, synthesizes, and delivers executive-grade hydrogen market intelligence on demand.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Autonomous
Market Intelligence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00D4FF"/>
                </a:solidFill>
                <a:latin typeface="Calibri"/>
              </a:rPr>
              <a:t>for the Hydrogen Industry.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CD4E0"/>
                </a:solidFill>
                <a:latin typeface="Calibri"/>
              </a:rPr>
              <a:t>HYMIND operates as a fully autonomous research pipeline:
collecting signals, validating sources, retrieving historical
context, and synthesising structured executive reports —
distributed automatically to decision-makers.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572768"/>
            <a:ext cx="3090672" cy="1298448"/>
          </a:xfrm>
          <a:prstGeom prst="rect">
            <a:avLst/>
          </a:prstGeom>
          <a:solidFill>
            <a:srgbClr val="1E2D4A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0" y="1572768"/>
            <a:ext cx="30906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93792" y="17007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2084832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CD4E0"/>
                </a:solidFill>
                <a:latin typeface="Calibri"/>
              </a:rPr>
              <a:t>Serper · NewsAPI · RSS · Web Crawling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60" y="1572768"/>
            <a:ext cx="3090672" cy="1298448"/>
          </a:xfrm>
          <a:prstGeom prst="rect">
            <a:avLst/>
          </a:prstGeom>
          <a:solidFill>
            <a:srgbClr val="1E2D4A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1572768"/>
            <a:ext cx="30906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1352" y="17007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Synthesise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084832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CD4E0"/>
                </a:solidFill>
                <a:latin typeface="Calibri"/>
              </a:rPr>
              <a:t>LangGraph · OpenAI GPT-4o-mini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054096"/>
            <a:ext cx="3090672" cy="1298448"/>
          </a:xfrm>
          <a:prstGeom prst="rect">
            <a:avLst/>
          </a:prstGeom>
          <a:solidFill>
            <a:srgbClr val="1E2D4A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3054096"/>
            <a:ext cx="30906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93792" y="3182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3566160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CD4E0"/>
                </a:solidFill>
                <a:latin typeface="Calibri"/>
              </a:rPr>
              <a:t>Pinecone RAG · Historical Context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3054096"/>
            <a:ext cx="3090672" cy="1298448"/>
          </a:xfrm>
          <a:prstGeom prst="rect">
            <a:avLst/>
          </a:prstGeom>
          <a:solidFill>
            <a:srgbClr val="1E2D4A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66760" y="3054096"/>
            <a:ext cx="30906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1352" y="3182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Distribute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1352" y="3566160"/>
            <a:ext cx="2743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CD4E0"/>
                </a:solidFill>
                <a:latin typeface="Calibri"/>
              </a:rPr>
              <a:t>FastAPI · n8n · Gmail · Sheets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03 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1457432" cy="1874519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3" y="1417320"/>
            <a:ext cx="1389888" cy="1371600"/>
          </a:xfrm>
          <a:prstGeom prst="rect">
            <a:avLst/>
          </a:prstGeom>
          <a:solidFill>
            <a:srgbClr val="0A4290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5" y="147218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5" y="2496312"/>
            <a:ext cx="1243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Manual / Scheduled
/ HTTP 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34539" y="2084831"/>
            <a:ext cx="164592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162556" y="2034539"/>
            <a:ext cx="73152" cy="1005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17420" y="1417320"/>
            <a:ext cx="1389888" cy="1371600"/>
          </a:xfrm>
          <a:prstGeom prst="rect">
            <a:avLst/>
          </a:prstGeom>
          <a:solidFill>
            <a:srgbClr val="0E1E3E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0572" y="147218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Collect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0572" y="2496312"/>
            <a:ext cx="1243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Serper · News
RSS · Crawl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25596" y="2084831"/>
            <a:ext cx="164592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753611" y="2034539"/>
            <a:ext cx="73152" cy="1005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08475" y="1417320"/>
            <a:ext cx="1389888" cy="1371600"/>
          </a:xfrm>
          <a:prstGeom prst="rect">
            <a:avLst/>
          </a:prstGeom>
          <a:solidFill>
            <a:srgbClr val="0E1E3E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1627" y="147218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1627" y="2496312"/>
            <a:ext cx="1243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Schema · Dedup
· Normalise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16651" y="2084831"/>
            <a:ext cx="164592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344667" y="2034539"/>
            <a:ext cx="73152" cy="1005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99531" y="1417320"/>
            <a:ext cx="1389888" cy="1371600"/>
          </a:xfrm>
          <a:prstGeom prst="rect">
            <a:avLst/>
          </a:prstGeom>
          <a:solidFill>
            <a:srgbClr val="0E1E3E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72683" y="147218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RAG
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2683" y="2496312"/>
            <a:ext cx="1243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Pinecone
Embeddings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7707" y="2084831"/>
            <a:ext cx="164592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935723" y="2034539"/>
            <a:ext cx="73152" cy="1005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90588" y="1417320"/>
            <a:ext cx="1389888" cy="1371600"/>
          </a:xfrm>
          <a:prstGeom prst="rect">
            <a:avLst/>
          </a:prstGeom>
          <a:solidFill>
            <a:srgbClr val="0E1E3E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3740" y="147218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RAG
Retrieve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3740" y="2496312"/>
            <a:ext cx="1243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Historical
Context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98763" y="2084831"/>
            <a:ext cx="164592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526780" y="2034539"/>
            <a:ext cx="73152" cy="1005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81643" y="1417320"/>
            <a:ext cx="1389888" cy="1371600"/>
          </a:xfrm>
          <a:prstGeom prst="rect">
            <a:avLst/>
          </a:prstGeom>
          <a:solidFill>
            <a:srgbClr val="0E1E3E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4795" y="147218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Synthesise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4795" y="2496312"/>
            <a:ext cx="1243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OpenAI
GPT-4o-mini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989819" y="2084831"/>
            <a:ext cx="164592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0117835" y="2034539"/>
            <a:ext cx="73152" cy="1005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72700" y="1417320"/>
            <a:ext cx="1389888" cy="1371600"/>
          </a:xfrm>
          <a:prstGeom prst="rect">
            <a:avLst/>
          </a:prstGeom>
          <a:solidFill>
            <a:srgbClr val="0A4290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45852" y="1472184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Distribute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5852" y="2496312"/>
            <a:ext cx="1243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n8n · Gmail
· Sheets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3" y="2999232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6AA"/>
                </a:solidFill>
                <a:latin typeface="Calibri"/>
              </a:rPr>
              <a:t>Input Layer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26363" y="3291840"/>
            <a:ext cx="1389888" cy="0"/>
          </a:xfrm>
          <a:prstGeom prst="line">
            <a:avLst/>
          </a:prstGeom>
          <a:ln w="6350">
            <a:solidFill>
              <a:srgbClr val="0A4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217420" y="29992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6AA"/>
                </a:solidFill>
                <a:latin typeface="Calibri"/>
              </a:rPr>
              <a:t>Collection &amp; Validation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217420" y="3291840"/>
            <a:ext cx="4572000" cy="0"/>
          </a:xfrm>
          <a:prstGeom prst="line">
            <a:avLst/>
          </a:prstGeom>
          <a:ln w="6350">
            <a:solidFill>
              <a:srgbClr val="0A4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990588" y="2999232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6AA"/>
                </a:solidFill>
                <a:latin typeface="Calibri"/>
              </a:rPr>
              <a:t>RAG Memory Layer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990588" y="3291840"/>
            <a:ext cx="2980944" cy="0"/>
          </a:xfrm>
          <a:prstGeom prst="line">
            <a:avLst/>
          </a:prstGeom>
          <a:ln w="6350">
            <a:solidFill>
              <a:srgbClr val="0A4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172700" y="2999232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896AA"/>
                </a:solidFill>
                <a:latin typeface="Calibri"/>
              </a:rPr>
              <a:t>Distribution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172700" y="3291840"/>
            <a:ext cx="1389888" cy="0"/>
          </a:xfrm>
          <a:prstGeom prst="line">
            <a:avLst/>
          </a:prstGeom>
          <a:ln w="6350">
            <a:solidFill>
              <a:srgbClr val="0A4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502920" y="3639312"/>
            <a:ext cx="3584448" cy="2450592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37673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Modular Design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41605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CD4E0"/>
                </a:solidFill>
                <a:latin typeface="Calibri"/>
              </a:rPr>
              <a:t>Each pipeline layer is independently
testable and replaceable.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06824" y="3639312"/>
            <a:ext cx="3584448" cy="2450592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9704" y="37673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Graceful Degradation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9704" y="41605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CD4E0"/>
                </a:solidFill>
                <a:latin typeface="Calibri"/>
              </a:rPr>
              <a:t>Missing APIs or credentials produce
warnings, not crashes.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10728" y="3639312"/>
            <a:ext cx="3584448" cy="2450592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93608" y="37673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State-Driven Orchestration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93608" y="41605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CD4E0"/>
                </a:solidFill>
                <a:latin typeface="Calibri"/>
              </a:rPr>
              <a:t>LangGraph maintains typed state
across all 9 workflow nodes.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04  RESEARCH PIPELINE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Multi-Source Research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26464"/>
            <a:ext cx="2651760" cy="932688"/>
          </a:xfrm>
          <a:prstGeom prst="rect">
            <a:avLst/>
          </a:prstGeom>
          <a:solidFill>
            <a:srgbClr val="1E2D4A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17904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Serper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86537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CD4E0"/>
                </a:solidFill>
                <a:latin typeface="Calibri"/>
              </a:rPr>
              <a:t>Google-based web research
Organic + news 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05456"/>
            <a:ext cx="2651760" cy="932688"/>
          </a:xfrm>
          <a:prstGeom prst="rect">
            <a:avLst/>
          </a:prstGeom>
          <a:solidFill>
            <a:srgbClr val="1E2D4A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596896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NewsAPI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94436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CD4E0"/>
                </a:solidFill>
                <a:latin typeface="Calibri"/>
              </a:rPr>
              <a:t>Structured news retrieval
Filtered, rate-limited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84448"/>
            <a:ext cx="2651760" cy="932688"/>
          </a:xfrm>
          <a:prstGeom prst="rect">
            <a:avLst/>
          </a:prstGeom>
          <a:solidFill>
            <a:srgbClr val="1E2D4A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675887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RSS Feeds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40233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CD4E0"/>
                </a:solidFill>
                <a:latin typeface="Calibri"/>
              </a:rPr>
              <a:t>Industry feeds — H2 Insight,
Fuel Cells Works, H2 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63440"/>
            <a:ext cx="2651760" cy="932688"/>
          </a:xfrm>
          <a:prstGeom prst="rect">
            <a:avLst/>
          </a:prstGeom>
          <a:solidFill>
            <a:srgbClr val="1E2D4A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4754879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Web Crawler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1023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CD4E0"/>
                </a:solidFill>
                <a:latin typeface="Calibri"/>
              </a:rPr>
              <a:t>Full-page content extraction
requests + BeautifulSoup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18688" y="3291840"/>
            <a:ext cx="54864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703320" y="3218688"/>
            <a:ext cx="73152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0" y="1426464"/>
            <a:ext cx="3291840" cy="1389888"/>
          </a:xfrm>
          <a:prstGeom prst="rect">
            <a:avLst/>
          </a:prstGeom>
          <a:solidFill>
            <a:srgbClr val="0E1E3E"/>
          </a:solidFill>
          <a:ln w="889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0" y="1426464"/>
            <a:ext cx="3291840" cy="45720"/>
          </a:xfrm>
          <a:prstGeom prst="rect">
            <a:avLst/>
          </a:prstGeom>
          <a:solidFill>
            <a:srgbClr val="10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151790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Merge &amp; Deduplicate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920240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Normalised URL comparison
URL-lowercase + trailing-slash stripped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0" y="2816352"/>
            <a:ext cx="0" cy="274320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840480" y="3090672"/>
            <a:ext cx="3291840" cy="1389888"/>
          </a:xfrm>
          <a:prstGeom prst="rect">
            <a:avLst/>
          </a:prstGeom>
          <a:solidFill>
            <a:srgbClr val="0E1E3E"/>
          </a:solidFill>
          <a:ln w="889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3090672"/>
            <a:ext cx="3291840" cy="45720"/>
          </a:xfrm>
          <a:prstGeom prst="rect">
            <a:avLst/>
          </a:prstGeom>
          <a:solidFill>
            <a:srgbClr val="10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31821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Schema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3584448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CollectorProtocol enforcement
Missing URL / duplicate removal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0" y="4480560"/>
            <a:ext cx="0" cy="274320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840480" y="4754880"/>
            <a:ext cx="3291840" cy="1389888"/>
          </a:xfrm>
          <a:prstGeom prst="rect">
            <a:avLst/>
          </a:prstGeom>
          <a:solidFill>
            <a:srgbClr val="0E1E3E"/>
          </a:solidFill>
          <a:ln w="889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0" y="4754880"/>
            <a:ext cx="3291840" cy="45720"/>
          </a:xfrm>
          <a:prstGeom prst="rect">
            <a:avLst/>
          </a:prstGeom>
          <a:solidFill>
            <a:srgbClr val="106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4846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Crawl Selected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5248656"/>
            <a:ext cx="2926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Top 5 non-PDF URLs
Boilerplate stripped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205472" y="3291840"/>
            <a:ext cx="54864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690104" y="3218688"/>
            <a:ext cx="73152" cy="137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08975" y="1426464"/>
            <a:ext cx="3877056" cy="4773168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08975" y="1426464"/>
            <a:ext cx="3877056" cy="420624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91856" y="1481328"/>
            <a:ext cx="3511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Unified Output Schema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91856" y="197510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onsolas"/>
              </a:rPr>
              <a:t>title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72016" y="1975104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Article / result title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226771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onsolas"/>
              </a:rPr>
              <a:t>url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2016" y="2267712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Source URL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91856" y="256032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onsolas"/>
              </a:rPr>
              <a:t>snippet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72016" y="2560320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Summary / description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91856" y="2852927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onsolas"/>
              </a:rPr>
              <a:t>published_at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2016" y="2852927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Publication date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1856" y="3145535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onsolas"/>
              </a:rPr>
              <a:t>source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2016" y="3145535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Publisher name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91856" y="3438143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onsolas"/>
              </a:rPr>
              <a:t>source_type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72016" y="3438143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organic · news · rss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91856" y="3730751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onsolas"/>
              </a:rPr>
              <a:t>search_query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72016" y="3730751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Query or feed URL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91856" y="4023359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onsolas"/>
              </a:rPr>
              <a:t>rank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72016" y="4023359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Position within source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05  RAG &amp; INTELLIGENCE LAYER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RAG — Persistent Market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CD4E0"/>
                </a:solidFill>
                <a:latin typeface="Calibri"/>
              </a:rPr>
              <a:t>Every research run enriches a Pinecone vector database, enabling historical trend comparison, contextual retrieval, and persistent intelligence across weekly cycles.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9344"/>
            <a:ext cx="1572768" cy="1097280"/>
          </a:xfrm>
          <a:prstGeom prst="rect">
            <a:avLst/>
          </a:prstGeom>
          <a:solidFill>
            <a:srgbClr val="0E1E3E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66420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Findings
Merged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414016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Post-crawl
results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93976" y="2139696"/>
            <a:ext cx="164592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221992" y="2089403"/>
            <a:ext cx="73152" cy="1005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76856" y="1609344"/>
            <a:ext cx="1572768" cy="1097280"/>
          </a:xfrm>
          <a:prstGeom prst="rect">
            <a:avLst/>
          </a:prstGeom>
          <a:solidFill>
            <a:srgbClr val="0E1E3E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0008" y="166420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2414016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text-embedding
-3-small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67911" y="2139696"/>
            <a:ext cx="164592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995927" y="2089403"/>
            <a:ext cx="73152" cy="1005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0791" y="1609344"/>
            <a:ext cx="1572768" cy="1097280"/>
          </a:xfrm>
          <a:prstGeom prst="rect">
            <a:avLst/>
          </a:prstGeom>
          <a:solidFill>
            <a:srgbClr val="0A4290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23944" y="166420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Upsert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3944" y="2414016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Pinecone
Serverless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41847" y="2139696"/>
            <a:ext cx="164592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769863" y="2089403"/>
            <a:ext cx="73152" cy="1005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24728" y="1609344"/>
            <a:ext cx="1572768" cy="1097280"/>
          </a:xfrm>
          <a:prstGeom prst="rect">
            <a:avLst/>
          </a:prstGeom>
          <a:solidFill>
            <a:srgbClr val="0A4290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166420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Retrieve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414016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Top-5 semantic
matches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15783" y="2139696"/>
            <a:ext cx="164592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543800" y="2089403"/>
            <a:ext cx="73152" cy="1005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98664" y="1609344"/>
            <a:ext cx="1572768" cy="1097280"/>
          </a:xfrm>
          <a:prstGeom prst="rect">
            <a:avLst/>
          </a:prstGeom>
          <a:solidFill>
            <a:srgbClr val="0E1E3E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71816" y="166420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Inject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1816" y="2414016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Historical
Context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89720" y="2139696"/>
            <a:ext cx="164592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317736" y="2089403"/>
            <a:ext cx="73152" cy="10058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72600" y="1609344"/>
            <a:ext cx="1572768" cy="1097280"/>
          </a:xfrm>
          <a:prstGeom prst="rect">
            <a:avLst/>
          </a:prstGeom>
          <a:solidFill>
            <a:srgbClr val="0E1E3E"/>
          </a:solidFill>
          <a:ln w="1016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45752" y="1664208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Synthesise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5752" y="2414016"/>
            <a:ext cx="1426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OpenAI
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2852928"/>
            <a:ext cx="3328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8CBD"/>
                </a:solidFill>
                <a:latin typeface="Calibri"/>
              </a:rPr>
              <a:t>↑  Pinecone Index  |  1536-dim cosine  |  AWS us-east-1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273552"/>
            <a:ext cx="2706624" cy="2633472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273552"/>
            <a:ext cx="2706624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3383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Historical Awareness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" y="3785615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Every run builds on previous intelligence cycles. Trend signals strengthen over time.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3280" y="3273552"/>
            <a:ext cx="2706624" cy="2633472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83280" y="3273552"/>
            <a:ext cx="2706624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47872" y="3383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Source Traceability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47872" y="3785615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Each stored finding preserves url, source, published_at, topic, and collected_at metadata.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273552"/>
            <a:ext cx="2706624" cy="2633472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3273552"/>
            <a:ext cx="2706624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1" y="3383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Semantic Retrieval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28231" y="3785615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Top-5 cosine-similar historical findings are injected into the synthesis prompt automatically.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3273552"/>
            <a:ext cx="2706624" cy="2633472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0" y="3273552"/>
            <a:ext cx="2706624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08592" y="33832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Graceful Degradation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08592" y="3785615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Pipeline runs normally without Pinecone configured — RAG nodes emit a warning and continue.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06  LANGGRAPH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LangGraph Agent 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3200400" cy="493776"/>
          </a:xfrm>
          <a:prstGeom prst="rect">
            <a:avLst/>
          </a:prstGeom>
          <a:solidFill>
            <a:srgbClr val="0A4290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onsolas"/>
              </a:rPr>
              <a:t>initialize_state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Sets run metadata, timestamps, topic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1883664"/>
            <a:ext cx="0" cy="128016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2920" y="2011680"/>
            <a:ext cx="3200400" cy="493776"/>
          </a:xfrm>
          <a:prstGeom prst="rect">
            <a:avLst/>
          </a:prstGeom>
          <a:solidFill>
            <a:srgbClr val="0E1E3E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665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onsolas"/>
              </a:rPr>
              <a:t>collect_serper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Serper organic + news results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505456"/>
            <a:ext cx="0" cy="128016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2920" y="2633472"/>
            <a:ext cx="3200400" cy="493776"/>
          </a:xfrm>
          <a:prstGeom prst="rect">
            <a:avLst/>
          </a:prstGeom>
          <a:solidFill>
            <a:srgbClr val="0E1E3E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8833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onsolas"/>
              </a:rPr>
              <a:t>collect_news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907792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NewsAPI articles with retry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127248"/>
            <a:ext cx="0" cy="128016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3255264"/>
            <a:ext cx="3200400" cy="493776"/>
          </a:xfrm>
          <a:prstGeom prst="rect">
            <a:avLst/>
          </a:prstGeom>
          <a:solidFill>
            <a:srgbClr val="0E1E3E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3101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onsolas"/>
              </a:rPr>
              <a:t>collect_rss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529584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Hydrogen industry RSS/Atom feeds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749040"/>
            <a:ext cx="0" cy="128016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02920" y="3877056"/>
            <a:ext cx="3200400" cy="493776"/>
          </a:xfrm>
          <a:prstGeom prst="rect">
            <a:avLst/>
          </a:prstGeom>
          <a:solidFill>
            <a:srgbClr val="0E1E3E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319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onsolas"/>
              </a:rPr>
              <a:t>merge_and_deduplicate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151376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URL-normalised deduplication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370832"/>
            <a:ext cx="0" cy="128016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4498848"/>
            <a:ext cx="3200400" cy="493776"/>
          </a:xfrm>
          <a:prstGeom prst="rect">
            <a:avLst/>
          </a:prstGeom>
          <a:solidFill>
            <a:srgbClr val="0E1E3E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55371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onsolas"/>
              </a:rPr>
              <a:t>crawl_selected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77316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Full content extraction, top 5 URLs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992624"/>
            <a:ext cx="0" cy="128016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02920" y="5120640"/>
            <a:ext cx="3200400" cy="493776"/>
          </a:xfrm>
          <a:prstGeom prst="rect">
            <a:avLst/>
          </a:prstGeom>
          <a:solidFill>
            <a:srgbClr val="0E1E3E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175503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onsolas"/>
              </a:rPr>
              <a:t>store_findings_in_pinecone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3949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Embed + upsert to Pinecone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614416"/>
            <a:ext cx="0" cy="128016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02920" y="5742431"/>
            <a:ext cx="3200400" cy="493776"/>
          </a:xfrm>
          <a:prstGeom prst="rect">
            <a:avLst/>
          </a:prstGeom>
          <a:solidFill>
            <a:srgbClr val="0E1E3E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79729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onsolas"/>
              </a:rPr>
              <a:t>retrieve_context_from_pinecone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016751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Top-5 semantic history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1248" y="6236207"/>
            <a:ext cx="0" cy="128016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502920" y="6364223"/>
            <a:ext cx="3200400" cy="493776"/>
          </a:xfrm>
          <a:prstGeom prst="rect">
            <a:avLst/>
          </a:prstGeom>
          <a:solidFill>
            <a:srgbClr val="0A4290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6419087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onsolas"/>
              </a:rPr>
              <a:t>finalize_state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638543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Counts, duration, error summary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1389888"/>
            <a:ext cx="7589520" cy="4919472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07408" y="1499616"/>
            <a:ext cx="3401568" cy="2139696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07408" y="1499616"/>
            <a:ext cx="3401568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1609343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Typed State Machine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1993391"/>
            <a:ext cx="30723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AgentState TypedDict flows through all 9 nodes.
errors and warnings use Annotated + operator.add
for safe concurrent accumulation.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65008" y="1499616"/>
            <a:ext cx="3401568" cy="2139696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65008" y="1499616"/>
            <a:ext cx="3401568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1609343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Per-Node Isolation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1993391"/>
            <a:ext cx="30723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Every collection node catches ALL exceptions
and appends to state["errors"]. One failing
source never blocks the others.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07408" y="3840480"/>
            <a:ext cx="3401568" cy="2139696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07408" y="3840480"/>
            <a:ext cx="3401568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0" y="3950208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=== Node START / END === Logging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4334256"/>
            <a:ext cx="30723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Each node emits structured START and END log
markers with counts and duration. Unambiguous
pipeline visibility during demo and production.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65008" y="3840480"/>
            <a:ext cx="3401568" cy="2139696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65008" y="3840480"/>
            <a:ext cx="3401568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3950208"/>
            <a:ext cx="30723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Graceful Continuation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4334256"/>
            <a:ext cx="30723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Missing API keys are converted to warnings
(not sys.exit). The pipeline always completes
with whatever partial results are available.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07  RELIABILITY &amp; HARDENING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Production-Grade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CD4E0"/>
                </a:solidFill>
                <a:latin typeface="Calibri"/>
              </a:rPr>
              <a:t>Phase 4 hardened every external integration and internal pipeline stage against real-world failure conditions.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657600" cy="4645152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3657600" cy="43891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Test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57984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D4FF"/>
                </a:solidFill>
                <a:latin typeface="Calibri"/>
              </a:rPr>
              <a:t>243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2128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Tests — all pass, no live API 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2491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D4FF"/>
                </a:solidFill>
                <a:latin typeface="Calibri"/>
              </a:rPr>
              <a:t>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7797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Failure scenario tests (Phase 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D4FF"/>
                </a:solidFill>
                <a:latin typeface="Calibri"/>
              </a:rPr>
              <a:t>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34670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RAG layer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58768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D4FF"/>
                </a:solidFill>
                <a:latin typeface="Calibri"/>
              </a:rPr>
              <a:t>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9136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NewsAPI collector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25696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D4FF"/>
                </a:solidFill>
                <a:latin typeface="Calibri"/>
              </a:rP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448055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Validator unit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92624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D4FF"/>
                </a:solidFill>
                <a:latin typeface="Calibr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5047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Web crawler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8" y="1572768"/>
            <a:ext cx="3474720" cy="1371600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1664208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FF"/>
                </a:solidFill>
                <a:latin typeface="Calibri"/>
              </a:rPr>
              <a:t>Tenacity Retry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011680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Exponential back-off on Timeout, ConnectionError, HTTP 429, HTTP 5xx for every external call.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1" y="1572768"/>
            <a:ext cx="3474720" cy="1371600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3" y="1664208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FF"/>
                </a:solidFill>
                <a:latin typeface="Calibri"/>
              </a:rPr>
              <a:t>Rate Limit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3" y="2011680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NewsAPI and Serper failures handled with retry — pipeline continues with partial results.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7408" y="3108960"/>
            <a:ext cx="3474720" cy="1371600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200400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FF"/>
                </a:solidFill>
                <a:latin typeface="Calibri"/>
              </a:rPr>
              <a:t>Schema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547872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CollectorProtocol enforces output schema. Missing-URL and duplicate entries removed pre-LLM.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9871" y="3108960"/>
            <a:ext cx="3474720" cy="1371600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3" y="3200400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FF"/>
                </a:solidFill>
                <a:latin typeface="Calibri"/>
              </a:rPr>
              <a:t>PDF Filtering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3" y="3547872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PDF URLs automatically excluded from crawl queue. Boilerplate stripped pre-extraction.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07408" y="4645152"/>
            <a:ext cx="3474720" cy="1371600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4736592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FF"/>
                </a:solidFill>
                <a:latin typeface="Calibri"/>
              </a:rPr>
              <a:t>No Secrets in Logs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084064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API keys sent via HTTP headers, never in URL params. Keys are never written to log files.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19871" y="4645152"/>
            <a:ext cx="3474720" cy="1371600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84463" y="4736592"/>
            <a:ext cx="3145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FF"/>
                </a:solidFill>
                <a:latin typeface="Calibri"/>
              </a:rPr>
              <a:t>Node-Level Logging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3" y="5084064"/>
            <a:ext cx="31455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=== Node START/END === markers with counts on every node. Clear pipeline observability.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08  DISTRIBUTION AUTOMATION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n8n Distribution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CD4E0"/>
                </a:solidFill>
                <a:latin typeface="Calibri"/>
              </a:rPr>
              <a:t>n8n orchestrates the weekly delivery cycle — from schedule trigger through Markdown-to-HTML conversion, Gmail delivery, and Google Sheets logging.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566160" cy="621792"/>
          </a:xfrm>
          <a:prstGeom prst="rect">
            <a:avLst/>
          </a:prstGeom>
          <a:solidFill>
            <a:srgbClr val="0A4290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347472" cy="62179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609344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FF"/>
                </a:solidFill>
                <a:latin typeface="Calibri"/>
              </a:rPr>
              <a:t>Schedule 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883664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896AA"/>
                </a:solidFill>
                <a:latin typeface="Calibri"/>
              </a:rPr>
              <a:t>Every Monday 08:00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1228" y="2194560"/>
            <a:ext cx="0" cy="109728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2322576"/>
            <a:ext cx="3566160" cy="621792"/>
          </a:xfrm>
          <a:prstGeom prst="rect">
            <a:avLst/>
          </a:prstGeom>
          <a:solidFill>
            <a:srgbClr val="0E1E3E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322576"/>
            <a:ext cx="347472" cy="62179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359152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HTTP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633472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896AA"/>
                </a:solidFill>
                <a:latin typeface="Calibri"/>
              </a:rPr>
              <a:t>POST /run-hymind via ngrok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1228" y="2944368"/>
            <a:ext cx="0" cy="109728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2920" y="3072384"/>
            <a:ext cx="3566160" cy="621792"/>
          </a:xfrm>
          <a:prstGeom prst="rect">
            <a:avLst/>
          </a:prstGeom>
          <a:solidFill>
            <a:srgbClr val="0E1E3E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072384"/>
            <a:ext cx="347472" cy="62179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3697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108960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IF — status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383279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896AA"/>
                </a:solidFill>
                <a:latin typeface="Calibri"/>
              </a:rPr>
              <a:t>$json.status == success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1228" y="3694176"/>
            <a:ext cx="0" cy="109728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2920" y="3822191"/>
            <a:ext cx="3566160" cy="621792"/>
          </a:xfrm>
          <a:prstGeom prst="rect">
            <a:avLst/>
          </a:prstGeom>
          <a:solidFill>
            <a:srgbClr val="0E1E3E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822191"/>
            <a:ext cx="347472" cy="62179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986783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858768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Markdown → 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133087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896AA"/>
                </a:solidFill>
                <a:latin typeface="Calibri"/>
              </a:rPr>
              <a:t>n8n built-in Markdown node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1228" y="4443983"/>
            <a:ext cx="0" cy="109728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02920" y="4572000"/>
            <a:ext cx="3566160" cy="621792"/>
          </a:xfrm>
          <a:prstGeom prst="rect">
            <a:avLst/>
          </a:prstGeom>
          <a:solidFill>
            <a:srgbClr val="0E1E3E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572000"/>
            <a:ext cx="347472" cy="62179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73659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4608576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E5A0"/>
                </a:solidFill>
                <a:latin typeface="Calibri"/>
              </a:rPr>
              <a:t>Gmail — Send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882896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896AA"/>
                </a:solidFill>
                <a:latin typeface="Calibri"/>
              </a:rPr>
              <a:t>HTML report to recipient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1228" y="5193792"/>
            <a:ext cx="0" cy="109728"/>
          </a:xfrm>
          <a:prstGeom prst="line">
            <a:avLst/>
          </a:prstGeom>
          <a:ln w="1016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02920" y="5321808"/>
            <a:ext cx="3566160" cy="621792"/>
          </a:xfrm>
          <a:prstGeom prst="rect">
            <a:avLst/>
          </a:prstGeom>
          <a:solidFill>
            <a:srgbClr val="0E1E3E"/>
          </a:solidFill>
          <a:ln w="6350">
            <a:solidFill>
              <a:srgbClr val="008C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321808"/>
            <a:ext cx="347472" cy="62179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48640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5358384"/>
            <a:ext cx="2962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Google Sheets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5632704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896AA"/>
                </a:solidFill>
                <a:latin typeface="Calibri"/>
              </a:rPr>
              <a:t>Delivery log: timestamp · title · 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83387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FFB820"/>
                </a:solidFill>
                <a:latin typeface="Calibri"/>
              </a:rPr>
              <a:t>Error branch → Gmail alert + Global Error Handler workflow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1389888"/>
            <a:ext cx="7114032" cy="4828032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46320" y="1517904"/>
            <a:ext cx="6748272" cy="1078992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1591056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FF"/>
                </a:solidFill>
                <a:latin typeface="Calibri"/>
              </a:rPr>
              <a:t>FastAPI Wrapper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1920240"/>
            <a:ext cx="6400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src/api/server.py exposes POST /run-hymind and GET /health.
Failures return HTTP 200 with status: failed so n8n reads the
error without triggering its own HTTP error handling.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2706624"/>
            <a:ext cx="6748272" cy="1078992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0" y="2779776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FF"/>
                </a:solidFill>
                <a:latin typeface="Calibri"/>
              </a:rPr>
              <a:t>ngrok Tunnel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3108960"/>
            <a:ext cx="6400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ngrok creates a public HTTPS tunnel to localhost:8000.
Fixed ngrok domain supported for stable URLs.
start_hymind_api.py starts FastAPI + ngrok in one command.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46320" y="3895344"/>
            <a:ext cx="6748272" cy="1078992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3968496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FF"/>
                </a:solidFill>
                <a:latin typeface="Calibri"/>
              </a:rPr>
              <a:t>PDF Decision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4297680"/>
            <a:ext cx="6400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PDF generation was evaluated and descoped from MVP.
n8n's built-in Markdown node converts to HTML inline —
email-readable format with zero additional dependencies.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5084064"/>
            <a:ext cx="6748272" cy="1078992"/>
          </a:xfrm>
          <a:prstGeom prst="rect">
            <a:avLst/>
          </a:prstGeom>
          <a:solidFill>
            <a:srgbClr val="1E2D4A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0" y="5157216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FF"/>
                </a:solidFill>
                <a:latin typeface="Calibri"/>
              </a:rPr>
              <a:t>Google Sheets Logging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5486400"/>
            <a:ext cx="6400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Every delivery writes: timestamp · report_title · status · channel.
Delivery audit trail stored in Google Sheets via OAuth2.
n8n/HYMIND.json is exported and committed to the repository.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09  SAMPLE EXECUTIVE REPORT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Executive Intelligence Report — Output Format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6035040" cy="5285232"/>
          </a:xfrm>
          <a:prstGeom prst="rect">
            <a:avLst/>
          </a:prstGeom>
          <a:solidFill>
            <a:srgbClr val="061228"/>
          </a:solidFill>
          <a:ln w="1016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6035040" cy="475488"/>
          </a:xfrm>
          <a:prstGeom prst="rect">
            <a:avLst/>
          </a:prstGeom>
          <a:solidFill>
            <a:srgbClr val="0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1673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HYMIND Executive Intelligence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6537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D4FF"/>
                </a:solidFill>
                <a:latin typeface="Calibri"/>
              </a:rPr>
              <a:t>Research Topic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121408"/>
            <a:ext cx="5669280" cy="0"/>
          </a:xfrm>
          <a:prstGeom prst="line">
            <a:avLst/>
          </a:prstGeom>
          <a:ln w="5080">
            <a:solidFill>
              <a:srgbClr val="0A4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157984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CD4E0"/>
                </a:solidFill>
                <a:latin typeface="Calibri"/>
              </a:rPr>
              <a:t>European green hydrogen electrolyzer market capacity &amp; cost trajectory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8950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D4FF"/>
                </a:solidFill>
                <a:latin typeface="Calibri"/>
              </a:rPr>
              <a:t>Executive Summary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3145536"/>
            <a:ext cx="5669280" cy="0"/>
          </a:xfrm>
          <a:prstGeom prst="line">
            <a:avLst/>
          </a:prstGeom>
          <a:ln w="5080">
            <a:solidFill>
              <a:srgbClr val="0A4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182112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CD4E0"/>
                </a:solidFill>
                <a:latin typeface="Calibri"/>
              </a:rPr>
              <a:t>European electrolyzer deployment accelerated in H1 2026, driven by IRA-competitive policy responses from Brussels and large-scale FIDs. Installed capacity reached an estimated 1.8 GW across the EU. Production costs remain above 5–6 EUR/kg...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1363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D4FF"/>
                </a:solidFill>
                <a:latin typeface="Calibri"/>
              </a:rPr>
              <a:t>Key Developments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4169664"/>
            <a:ext cx="5669280" cy="0"/>
          </a:xfrm>
          <a:prstGeom prst="line">
            <a:avLst/>
          </a:prstGeom>
          <a:ln w="5080">
            <a:solidFill>
              <a:srgbClr val="0A4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42062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CD4E0"/>
                </a:solidFill>
                <a:latin typeface="Calibri"/>
              </a:rPr>
              <a:t>— German H2Global mechanism awarded six import contracts totalling 420,000 t/yr
— Nel Hydrogen announced second 1 GW/year gigafactory in Norway (Q4 2027)
— Spain increased PERTE H2 budget by €800M for 12 corridor 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3776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0D4FF"/>
                </a:solidFill>
                <a:latin typeface="Calibri"/>
              </a:rPr>
              <a:t>Policy &amp; Funding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5193792"/>
            <a:ext cx="5669280" cy="0"/>
          </a:xfrm>
          <a:prstGeom prst="line">
            <a:avLst/>
          </a:prstGeom>
          <a:ln w="5080">
            <a:solidFill>
              <a:srgbClr val="0A42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5230368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CCD4E0"/>
                </a:solidFill>
                <a:latin typeface="Calibri"/>
              </a:rPr>
              <a:t>EU REPowerEU 10 Mt domestic production target · US IRA competitive pressure
EC revised Hydrogen Delegated Act · Offtake pricing 5–7 EUR/kg for 2027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108192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8896AA"/>
                </a:solidFill>
                <a:latin typeface="Calibri"/>
              </a:rPr>
              <a:t>Generated by HYMIND — Hydrogen Market Intelligence &amp;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261872"/>
            <a:ext cx="4828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FF"/>
                </a:solidFill>
                <a:latin typeface="Calibri"/>
              </a:rPr>
              <a:t>Report Structure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49440" y="1627632"/>
            <a:ext cx="482803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49440" y="177393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177393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CD4E0"/>
                </a:solidFill>
                <a:latin typeface="Calibri"/>
              </a:rPr>
              <a:t>Research Topic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21284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alibr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21284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CD4E0"/>
                </a:solidFill>
                <a:latin typeface="Calibri"/>
              </a:rPr>
              <a:t>Executive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65176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alibr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65176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CD4E0"/>
                </a:solidFill>
                <a:latin typeface="Calibri"/>
              </a:rPr>
              <a:t>Key Developments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09067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09067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CD4E0"/>
                </a:solidFill>
                <a:latin typeface="Calibri"/>
              </a:rPr>
              <a:t>Market Implications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529584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52958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CD4E0"/>
                </a:solidFill>
                <a:latin typeface="Calibri"/>
              </a:rPr>
              <a:t>Technology Signals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96849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396849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CD4E0"/>
                </a:solidFill>
                <a:latin typeface="Calibri"/>
              </a:rPr>
              <a:t>Policy &amp; Funding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407408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alibr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40740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CD4E0"/>
                </a:solidFill>
                <a:latin typeface="Calibri"/>
              </a:rPr>
              <a:t>Competitive Notes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84632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alibri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84632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CD4E0"/>
                </a:solidFill>
                <a:latin typeface="Calibri"/>
              </a:rPr>
              <a:t>Risks &amp; Watchouts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28523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alibr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28523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CD4E0"/>
                </a:solidFill>
                <a:latin typeface="Calibri"/>
              </a:rPr>
              <a:t>Source Traceability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724144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FF"/>
                </a:solidFill>
                <a:latin typeface="Calibr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72414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CD4E0"/>
                </a:solidFill>
                <a:latin typeface="Calibri"/>
              </a:rPr>
              <a:t>Workflow Metadata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10  TECHNICAL STACK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052" y="1389888"/>
            <a:ext cx="2633472" cy="1426464"/>
          </a:xfrm>
          <a:prstGeom prst="rect">
            <a:avLst/>
          </a:prstGeom>
          <a:solidFill>
            <a:srgbClr val="0E1E3E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6052" y="1389888"/>
            <a:ext cx="26334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" y="1554480"/>
            <a:ext cx="23774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Python
3.11+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" y="2194560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896AA"/>
                </a:solidFill>
                <a:latin typeface="Calibri"/>
              </a:rPr>
              <a:t>Core Language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3844" y="1389888"/>
            <a:ext cx="2633472" cy="1426464"/>
          </a:xfrm>
          <a:prstGeom prst="rect">
            <a:avLst/>
          </a:prstGeom>
          <a:solidFill>
            <a:srgbClr val="0E1E3E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3844" y="1389888"/>
            <a:ext cx="26334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1860" y="1554480"/>
            <a:ext cx="23774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LangGraph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1860" y="2194560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896AA"/>
                </a:solidFill>
                <a:latin typeface="Calibri"/>
              </a:rPr>
              <a:t>Agent Orchestration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1636" y="1389888"/>
            <a:ext cx="2633472" cy="1426464"/>
          </a:xfrm>
          <a:prstGeom prst="rect">
            <a:avLst/>
          </a:prstGeom>
          <a:solidFill>
            <a:srgbClr val="0E1E3E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1636" y="1389888"/>
            <a:ext cx="26334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9651" y="1554480"/>
            <a:ext cx="23774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9651" y="2194560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896AA"/>
                </a:solidFill>
                <a:latin typeface="Calibri"/>
              </a:rPr>
              <a:t>GPT-4o-mini / Embed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39428" y="1389888"/>
            <a:ext cx="2633472" cy="1426464"/>
          </a:xfrm>
          <a:prstGeom prst="rect">
            <a:avLst/>
          </a:prstGeom>
          <a:solidFill>
            <a:srgbClr val="0A4290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39428" y="1389888"/>
            <a:ext cx="26334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7444" y="1554480"/>
            <a:ext cx="23774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Pinecone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7444" y="2194560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896AA"/>
                </a:solidFill>
                <a:latin typeface="Calibri"/>
              </a:rPr>
              <a:t>Vector RAG Memory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" y="3200400"/>
            <a:ext cx="2633472" cy="1426464"/>
          </a:xfrm>
          <a:prstGeom prst="rect">
            <a:avLst/>
          </a:prstGeom>
          <a:solidFill>
            <a:srgbClr val="0E1E3E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" y="3200400"/>
            <a:ext cx="26334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" y="3364992"/>
            <a:ext cx="23774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n8n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" y="4005072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896AA"/>
                </a:solidFill>
                <a:latin typeface="Calibri"/>
              </a:rPr>
              <a:t>Distribution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23844" y="3200400"/>
            <a:ext cx="2633472" cy="1426464"/>
          </a:xfrm>
          <a:prstGeom prst="rect">
            <a:avLst/>
          </a:prstGeom>
          <a:solidFill>
            <a:srgbClr val="0E1E3E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23844" y="3200400"/>
            <a:ext cx="26334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1860" y="3364992"/>
            <a:ext cx="23774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1860" y="4005072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896AA"/>
                </a:solidFill>
                <a:latin typeface="Calibri"/>
              </a:rPr>
              <a:t>HTTP API Wrapper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1636" y="3200400"/>
            <a:ext cx="2633472" cy="1426464"/>
          </a:xfrm>
          <a:prstGeom prst="rect">
            <a:avLst/>
          </a:prstGeom>
          <a:solidFill>
            <a:srgbClr val="0E1E3E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31636" y="3200400"/>
            <a:ext cx="26334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9651" y="3364992"/>
            <a:ext cx="23774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Serper + NewsAPI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9651" y="4005072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896AA"/>
                </a:solidFill>
                <a:latin typeface="Calibri"/>
              </a:rPr>
              <a:t>Research Sources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39428" y="3200400"/>
            <a:ext cx="2633472" cy="1426464"/>
          </a:xfrm>
          <a:prstGeom prst="rect">
            <a:avLst/>
          </a:prstGeom>
          <a:solidFill>
            <a:srgbClr val="0E1E3E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39428" y="3200400"/>
            <a:ext cx="263347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67444" y="3364992"/>
            <a:ext cx="237743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feedparser +
BeautifulSoup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7444" y="4005072"/>
            <a:ext cx="23774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896AA"/>
                </a:solidFill>
                <a:latin typeface="Calibri"/>
              </a:rPr>
              <a:t>RSS + Crawling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11  DEVELOPMENT APPROACH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Agile Phased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7" y="1389888"/>
            <a:ext cx="1773936" cy="4956048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9747" y="1389888"/>
            <a:ext cx="1773936" cy="53035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7" y="1426464"/>
            <a:ext cx="1773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FF"/>
                </a:solidFill>
                <a:latin typeface="Calibri"/>
              </a:rPr>
              <a:t>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" y="2011680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" y="250545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1" y="243230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Repo scaffold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5" y="287121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1" y="279806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Docs structure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" y="323697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1" y="316382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Memory system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" y="360273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1" y="352958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Skills setup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" y="5705856"/>
            <a:ext cx="1371600" cy="34747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" y="57424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40C1A"/>
                </a:solidFill>
                <a:latin typeface="Calibri"/>
              </a:rPr>
              <a:t>Complete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4852" y="1389888"/>
            <a:ext cx="1773936" cy="4956048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44852" y="1389888"/>
            <a:ext cx="1773936" cy="53035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4852" y="1426464"/>
            <a:ext cx="1773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FF"/>
                </a:solidFill>
                <a:latin typeface="Calibri"/>
              </a:rPr>
              <a:t>Phase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6292" y="2011680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Core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250545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4036" y="243230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OpenAI · Serper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46020" y="287121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74036" y="279806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NewsAPI · RSS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46020" y="323697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74036" y="316382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LangGraph workflow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46020" y="360273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74036" y="352958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72 tests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46020" y="5705856"/>
            <a:ext cx="1371600" cy="34747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46020" y="57424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40C1A"/>
                </a:solidFill>
                <a:latin typeface="Calibri"/>
              </a:rPr>
              <a:t>Complete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9956" y="1389888"/>
            <a:ext cx="1773936" cy="4956048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19956" y="1389888"/>
            <a:ext cx="1773936" cy="53035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19956" y="1426464"/>
            <a:ext cx="1773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FF"/>
                </a:solidFill>
                <a:latin typeface="Calibri"/>
              </a:rPr>
              <a:t>Phase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1396" y="2011680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21124" y="250545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49140" y="243230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CollectorProtocol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21124" y="287121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49140" y="279806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Schema validation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21124" y="323697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49140" y="316382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HTML stripping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21124" y="360273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49140" y="352958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+60 tests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21124" y="5705856"/>
            <a:ext cx="1371600" cy="34747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1124" y="57424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40C1A"/>
                </a:solidFill>
                <a:latin typeface="Calibri"/>
              </a:rPr>
              <a:t>Complete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95060" y="1389888"/>
            <a:ext cx="1773936" cy="4956048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95060" y="1389888"/>
            <a:ext cx="1773936" cy="53035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95060" y="1426464"/>
            <a:ext cx="1773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FF"/>
                </a:solidFill>
                <a:latin typeface="Calibri"/>
              </a:rPr>
              <a:t>Phase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86500" y="2011680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RAG Memory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96228" y="250545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24244" y="243230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Pinecone store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96228" y="287121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24244" y="279806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Semantic retrieval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96228" y="323697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24244" y="316382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History injection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96228" y="360273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24244" y="352958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+46 tests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96228" y="5705856"/>
            <a:ext cx="1371600" cy="34747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96228" y="57424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40C1A"/>
                </a:solidFill>
                <a:latin typeface="Calibri"/>
              </a:rPr>
              <a:t>Complete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70164" y="1389888"/>
            <a:ext cx="1773936" cy="4956048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70164" y="1389888"/>
            <a:ext cx="1773936" cy="53035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70164" y="1426464"/>
            <a:ext cx="1773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FF"/>
                </a:solidFill>
                <a:latin typeface="Calibri"/>
              </a:rPr>
              <a:t>Phase 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61604" y="2011680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Hardening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71332" y="250545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99348" y="243230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Output validator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71332" y="287121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99348" y="279806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73 failure tests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71332" y="323697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99348" y="316382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Node logging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71332" y="360273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99348" y="352958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243 total tests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71332" y="5705856"/>
            <a:ext cx="1371600" cy="34747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71332" y="57424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40C1A"/>
                </a:solidFill>
                <a:latin typeface="Calibri"/>
              </a:rPr>
              <a:t>Complete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5268" y="1389888"/>
            <a:ext cx="1773936" cy="4956048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145268" y="1389888"/>
            <a:ext cx="1773936" cy="530352"/>
          </a:xfrm>
          <a:prstGeom prst="rect">
            <a:avLst/>
          </a:prstGeom>
          <a:solidFill>
            <a:srgbClr val="0A42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45268" y="1426464"/>
            <a:ext cx="1773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FF"/>
                </a:solidFill>
                <a:latin typeface="Calibri"/>
              </a:rPr>
              <a:t>Phase 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36708" y="2011680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Distribution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346436" y="250545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474452" y="243230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FastAPI wrapper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346436" y="287121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474452" y="279806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n8n workflow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346436" y="323697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474452" y="316382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Gmail delivery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346436" y="3602736"/>
            <a:ext cx="6400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474452" y="3529584"/>
            <a:ext cx="1316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CD4E0"/>
                </a:solidFill>
                <a:latin typeface="Calibri"/>
              </a:rPr>
              <a:t>Sheets logging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346436" y="5705856"/>
            <a:ext cx="1371600" cy="34747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346436" y="574243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40C1A"/>
                </a:solidFill>
                <a:latin typeface="Calibri"/>
              </a:rPr>
              <a:t>Complete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12  FUTURE ROADMAP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Future Expansion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CD4E0"/>
                </a:solidFill>
                <a:latin typeface="Calibri"/>
              </a:rPr>
              <a:t>The modular architecture positions HYMIND for enterprise-scale expansion across additional channels, industries, and intelligence dimensions.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493008" cy="2212848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54864" cy="2212848"/>
          </a:xfrm>
          <a:prstGeom prst="rect">
            <a:avLst/>
          </a:prstGeom>
          <a:solidFill>
            <a:srgbClr val="008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00784"/>
            <a:ext cx="3218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Enterprise
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86000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212848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Microsoft Teams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615184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542032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SharePoint connector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44368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2871215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Jira / PLM sync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273551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200399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MS Graph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1572768"/>
            <a:ext cx="3493008" cy="2212848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1572768"/>
            <a:ext cx="54864" cy="2212848"/>
          </a:xfrm>
          <a:prstGeom prst="rect">
            <a:avLst/>
          </a:prstGeom>
          <a:solidFill>
            <a:srgbClr val="008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1700784"/>
            <a:ext cx="3218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Intelligence
Expansion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2286000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5424" y="2212848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LinkedIn monitoring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2615184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2542032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Patent filings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2944368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2871215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Conference signals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3273551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3200399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Job market signals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46136" y="1572768"/>
            <a:ext cx="3493008" cy="2212848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46136" y="1572768"/>
            <a:ext cx="54864" cy="2212848"/>
          </a:xfrm>
          <a:prstGeom prst="rect">
            <a:avLst/>
          </a:prstGeom>
          <a:solidFill>
            <a:srgbClr val="008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9016" y="1700784"/>
            <a:ext cx="3218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Delivery
&amp; UX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9016" y="2286000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2" y="2212848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Real-time dashboards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9016" y="2615184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2" y="2542032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Slack / Telegram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9016" y="2944368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57032" y="2871215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PDF branded reports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9016" y="3273551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2" y="3200399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Web portal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041648"/>
            <a:ext cx="3493008" cy="2212848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4041648"/>
            <a:ext cx="54864" cy="2212848"/>
          </a:xfrm>
          <a:prstGeom prst="rect">
            <a:avLst/>
          </a:prstGeom>
          <a:solidFill>
            <a:srgbClr val="008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169663"/>
            <a:ext cx="3218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Multi-Industry
Support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754880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" y="4681728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Battery / energy storage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5084064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" y="5010912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Clean energy broadly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5413248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" y="5340096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Automotive supply chain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5742432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" y="5669280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Electrolysis tech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24528" y="4041648"/>
            <a:ext cx="3493008" cy="2212848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24528" y="4041648"/>
            <a:ext cx="54864" cy="2212848"/>
          </a:xfrm>
          <a:prstGeom prst="rect">
            <a:avLst/>
          </a:prstGeom>
          <a:solidFill>
            <a:srgbClr val="008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07408" y="4169663"/>
            <a:ext cx="3218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AI Enhancements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07408" y="4754880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35424" y="4681728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Multi-model fallback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07408" y="5084064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35424" y="5010912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Confidence scoring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07408" y="5413248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35424" y="5340096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Human approval nodes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07408" y="5742432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35424" y="5669280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Predictive analytics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46136" y="4041648"/>
            <a:ext cx="3493008" cy="2212848"/>
          </a:xfrm>
          <a:prstGeom prst="rect">
            <a:avLst/>
          </a:prstGeom>
          <a:solidFill>
            <a:srgbClr val="09142B"/>
          </a:solidFill>
          <a:ln w="635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946136" y="4041648"/>
            <a:ext cx="54864" cy="2212848"/>
          </a:xfrm>
          <a:prstGeom prst="rect">
            <a:avLst/>
          </a:prstGeom>
          <a:solidFill>
            <a:srgbClr val="008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29016" y="4169663"/>
            <a:ext cx="32186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FF"/>
                </a:solidFill>
                <a:latin typeface="Calibri"/>
              </a:rPr>
              <a:t>Operations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29016" y="4754880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57032" y="4681728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CI/CD pipeline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29016" y="5084064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57032" y="5010912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Prometheus metrics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29016" y="5413248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57032" y="5340096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Grafana dashboards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29016" y="5742432"/>
            <a:ext cx="54864" cy="54864"/>
          </a:xfrm>
          <a:prstGeom prst="rect">
            <a:avLst/>
          </a:prstGeom>
          <a:solidFill>
            <a:srgbClr val="88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57032" y="5669280"/>
            <a:ext cx="3035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CD4E0"/>
                </a:solidFill>
                <a:latin typeface="Calibri"/>
              </a:rPr>
              <a:t>Load / chaos testing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0" y="2011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896AA"/>
                </a:solidFill>
                <a:latin typeface="Calibri"/>
              </a:rPr>
              <a:t>13  PROJECT OUTCOME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635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HYMIND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8311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 production-ready autonomous hydrogen market intelligence platform.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896AA"/>
                </a:solidFill>
                <a:latin typeface="Calibri"/>
              </a:rPr>
              <a:t>243 tests · 5 complete phases · FastAPI + LangGraph + Pinecone + n8n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816352"/>
            <a:ext cx="8531352" cy="0"/>
          </a:xfrm>
          <a:prstGeom prst="line">
            <a:avLst/>
          </a:prstGeom>
          <a:ln w="7620">
            <a:solidFill>
              <a:srgbClr val="008C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" y="2999232"/>
            <a:ext cx="2651760" cy="2999232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999232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27248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Autonomous
Operation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12463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CD4E0"/>
                </a:solidFill>
                <a:latin typeface="Calibri"/>
              </a:rPr>
              <a:t>Runs end-to-end without human intervention — from collection through synthesis to delivery.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999232"/>
            <a:ext cx="2651760" cy="2999232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2999232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127248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Executive-Grade
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712463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CD4E0"/>
                </a:solidFill>
                <a:latin typeface="Calibri"/>
              </a:rPr>
              <a:t>Structured 10-section Markdown reports with source traceability, RAG historical context, and metadata.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999232"/>
            <a:ext cx="2651760" cy="2999232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999232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127248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Enterprise-Ready
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712463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CD4E0"/>
                </a:solidFill>
                <a:latin typeface="Calibri"/>
              </a:rPr>
              <a:t>Modular LangGraph pipeline, typed state, graceful degradation, retry logic, 243-test coverage.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2999232"/>
            <a:ext cx="2651760" cy="2999232"/>
          </a:xfrm>
          <a:prstGeom prst="rect">
            <a:avLst/>
          </a:prstGeom>
          <a:solidFill>
            <a:srgbClr val="09142B"/>
          </a:solidFill>
          <a:ln w="7620">
            <a:solidFill>
              <a:srgbClr val="0A42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2999232"/>
            <a:ext cx="26517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3127248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Scalable
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712463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CD4E0"/>
                </a:solidFill>
                <a:latin typeface="Calibri"/>
              </a:rPr>
              <a:t>FastAPI HTTP wrapper + n8n enables weekly scheduled delivery, Gmail distribution, and audit logging.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HYMIND   |   Hydrogen Market Intelligence &amp;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836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6858000"/>
          </a:xfrm>
          <a:prstGeom prst="rect">
            <a:avLst/>
          </a:prstGeom>
          <a:solidFill>
            <a:srgbClr val="04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1612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0" b="1" i="0">
                <a:solidFill>
                  <a:srgbClr val="07142A"/>
                </a:solidFill>
                <a:latin typeface="Calibri"/>
              </a:rPr>
              <a:t>HYMIND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2999232"/>
            <a:ext cx="6336792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084831"/>
            <a:ext cx="111831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HYMIND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27248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D4FF"/>
                </a:solidFill>
                <a:latin typeface="Calibri"/>
              </a:rPr>
              <a:t>Hydrogen Market Intelligence &amp;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58768"/>
            <a:ext cx="111831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CD4E0"/>
                </a:solidFill>
                <a:latin typeface="Calibri"/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102352"/>
            <a:ext cx="11183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896AA"/>
                </a:solidFill>
                <a:latin typeface="Calibri"/>
              </a:rPr>
              <a:t>Autonomous Research · LangGraph · OpenAI · Pinecone · n8n · 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9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8896AA"/>
                </a:solidFill>
                <a:latin typeface="Calibri"/>
              </a:rPr>
              <a:t>CONFIDENTIAL — HYMIND Executive Presentation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